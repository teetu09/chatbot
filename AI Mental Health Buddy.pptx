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Montserrat SemiBold"/>
      <p:regular r:id="rId10"/>
      <p:bold r:id="rId11"/>
      <p:italic r:id="rId12"/>
      <p:boldItalic r:id="rId13"/>
    </p:embeddedFon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Montserrat Medium"/>
      <p:regular r:id="rId22"/>
      <p:bold r:id="rId23"/>
      <p:italic r:id="rId24"/>
      <p:boldItalic r:id="rId25"/>
    </p:embeddedFont>
    <p:embeddedFont>
      <p:font typeface="Average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BC6BDD-6164-4E0E-9F67-F4DEA8EF150D}">
  <a:tblStyle styleId="{4FBC6BDD-6164-4E0E-9F67-F4DEA8EF15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MontserratMedium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MontserratMedium-italic.fntdata"/><Relationship Id="rId23" Type="http://schemas.openxmlformats.org/officeDocument/2006/relationships/font" Target="fonts/Montserrat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verage-regular.fntdata"/><Relationship Id="rId25" Type="http://schemas.openxmlformats.org/officeDocument/2006/relationships/font" Target="fonts/Montserrat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font" Target="fonts/MontserratSemiBold-bold.fntdata"/><Relationship Id="rId10" Type="http://schemas.openxmlformats.org/officeDocument/2006/relationships/font" Target="fonts/MontserratSemiBold-regular.fntdata"/><Relationship Id="rId13" Type="http://schemas.openxmlformats.org/officeDocument/2006/relationships/font" Target="fonts/MontserratSemiBold-boldItalic.fntdata"/><Relationship Id="rId12" Type="http://schemas.openxmlformats.org/officeDocument/2006/relationships/font" Target="fonts/MontserratSemiBold-italic.fntdata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f87997393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f87997393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f87997393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f87997393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406605.jpg" id="10" name="Google Shape;10;p2"/>
          <p:cNvPicPr preferRelativeResize="0"/>
          <p:nvPr/>
        </p:nvPicPr>
        <p:blipFill rotWithShape="1">
          <a:blip r:embed="rId2">
            <a:alphaModFix amt="66000"/>
          </a:blip>
          <a:srcRect b="39565" l="20991" r="40112" t="2690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offset_comp_342327_edtied.jpg" id="11" name="Google Shape;11;p2"/>
          <p:cNvPicPr preferRelativeResize="0"/>
          <p:nvPr/>
        </p:nvPicPr>
        <p:blipFill rotWithShape="1">
          <a:blip r:embed="rId3">
            <a:alphaModFix amt="31000"/>
          </a:blip>
          <a:srcRect b="11297" l="14009" r="43289" t="35833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" name="Google Shape;39;p3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1">
  <p:cSld name="TITLE_AND_BODY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>
            <p:ph idx="1" type="body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6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6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2">
  <p:cSld name="TITLE_AND_BODY_2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7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7"/>
          <p:cNvSpPr txBox="1"/>
          <p:nvPr>
            <p:ph idx="1" type="body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8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0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1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7" name="Google Shape;167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2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12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71" name="Google Shape;171;p12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78" name="Google Shape;17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13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14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5" name="Google Shape;20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14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3">
  <p:cSld name="TITLE_AND_BODY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343059.jpg" id="213" name="Google Shape;213;p16"/>
          <p:cNvPicPr preferRelativeResize="0"/>
          <p:nvPr/>
        </p:nvPicPr>
        <p:blipFill rotWithShape="1">
          <a:blip r:embed="rId2">
            <a:alphaModFix amt="80000"/>
          </a:blip>
          <a:srcRect b="25870" l="30474" r="30474" t="11955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fmla="val 50343" name="adj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5" name="Google Shape;215;p16"/>
          <p:cNvSpPr txBox="1"/>
          <p:nvPr>
            <p:ph idx="1" type="body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7" name="Google Shape;217;p16">
            <a:hlinkClick action="ppaction://hlinksldjump" r:id="rId3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>
            <a:hlinkClick action="ppaction://hlinksldjump" r:id="rId4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>
            <a:hlinkClick action="ppaction://hlinksldjump" r:id="rId5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>
            <a:hlinkClick action="ppaction://hlinksldjump" r:id="rId6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type="ctrTitle"/>
          </p:nvPr>
        </p:nvSpPr>
        <p:spPr>
          <a:xfrm>
            <a:off x="3449925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/>
              <a:t> </a:t>
            </a:r>
            <a:r>
              <a:rPr b="1" lang="en-GB" sz="3400"/>
              <a:t>“Empathia”</a:t>
            </a:r>
            <a:endParaRPr b="1" sz="3400"/>
          </a:p>
        </p:txBody>
      </p:sp>
      <p:sp>
        <p:nvSpPr>
          <p:cNvPr id="229" name="Google Shape;229;p17"/>
          <p:cNvSpPr txBox="1"/>
          <p:nvPr>
            <p:ph idx="1" type="subTitle"/>
          </p:nvPr>
        </p:nvSpPr>
        <p:spPr>
          <a:xfrm>
            <a:off x="3548025" y="2442925"/>
            <a:ext cx="5595900" cy="13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-GB" sz="3400">
                <a:latin typeface="Montserrat"/>
                <a:ea typeface="Montserrat"/>
                <a:cs typeface="Montserrat"/>
                <a:sym typeface="Montserrat"/>
              </a:rPr>
              <a:t>Mental Health Chatbot</a:t>
            </a:r>
            <a:endParaRPr b="1" sz="3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17"/>
          <p:cNvSpPr txBox="1"/>
          <p:nvPr/>
        </p:nvSpPr>
        <p:spPr>
          <a:xfrm>
            <a:off x="6595025" y="4010225"/>
            <a:ext cx="40974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Char char="-"/>
            </a:pPr>
            <a:r>
              <a:rPr b="1" lang="en-GB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Merge Conflicts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Tanishq Chaudhary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	 Nikhil Yadav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/>
          <p:nvPr>
            <p:ph type="title"/>
          </p:nvPr>
        </p:nvSpPr>
        <p:spPr>
          <a:xfrm>
            <a:off x="0" y="1132675"/>
            <a:ext cx="9144000" cy="11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Why AI Mental Health Chatbots Matter?</a:t>
            </a:r>
            <a:endParaRPr b="1" sz="1800"/>
          </a:p>
        </p:txBody>
      </p:sp>
      <p:sp>
        <p:nvSpPr>
          <p:cNvPr id="236" name="Google Shape;236;p18"/>
          <p:cNvSpPr txBox="1"/>
          <p:nvPr/>
        </p:nvSpPr>
        <p:spPr>
          <a:xfrm>
            <a:off x="1294301" y="2097575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1294301" y="2423076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ACAC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4443276" y="2097575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4443276" y="2426100"/>
            <a:ext cx="3018300" cy="1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ACAC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4443276" y="3725075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ACAC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350875" y="1704325"/>
            <a:ext cx="62769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Char char="●"/>
            </a:pPr>
            <a:r>
              <a:rPr lang="en-GB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24/7 Accessible Support</a:t>
            </a:r>
            <a:br>
              <a:rPr lang="en-GB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Char char="●"/>
            </a:pPr>
            <a:r>
              <a:rPr lang="en-GB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Reaches underserved communities</a:t>
            </a:r>
            <a:br>
              <a:rPr lang="en-GB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Char char="●"/>
            </a:pPr>
            <a:r>
              <a:rPr lang="en-GB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Reduces stigma via anonymous help</a:t>
            </a:r>
            <a:br>
              <a:rPr lang="en-GB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Char char="●"/>
            </a:pPr>
            <a:r>
              <a:rPr lang="en-GB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Supports professionals, not replaces</a:t>
            </a:r>
            <a:br>
              <a:rPr lang="en-GB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Char char="●"/>
            </a:pPr>
            <a:r>
              <a:rPr lang="en-GB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Encourages early intervention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 txBox="1"/>
          <p:nvPr>
            <p:ph idx="1" type="body"/>
          </p:nvPr>
        </p:nvSpPr>
        <p:spPr>
          <a:xfrm>
            <a:off x="1211925" y="624600"/>
            <a:ext cx="6886800" cy="38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Montserrat"/>
                <a:ea typeface="Montserrat"/>
                <a:cs typeface="Montserrat"/>
                <a:sym typeface="Montserrat"/>
              </a:rPr>
              <a:t>Challenges and How to Overcome Them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19"/>
          <p:cNvSpPr/>
          <p:nvPr/>
        </p:nvSpPr>
        <p:spPr>
          <a:xfrm flipH="1">
            <a:off x="4114917" y="1606596"/>
            <a:ext cx="3063300" cy="1743300"/>
          </a:xfrm>
          <a:prstGeom prst="rtTriangle">
            <a:avLst/>
          </a:prstGeom>
          <a:solidFill>
            <a:srgbClr val="000000">
              <a:alpha val="4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 flipH="1">
            <a:off x="6762011" y="2613990"/>
            <a:ext cx="1024200" cy="1333200"/>
          </a:xfrm>
          <a:prstGeom prst="rtTriangle">
            <a:avLst/>
          </a:prstGeom>
          <a:solidFill>
            <a:srgbClr val="000000">
              <a:alpha val="4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9" name="Google Shape;249;p19"/>
          <p:cNvGraphicFramePr/>
          <p:nvPr/>
        </p:nvGraphicFramePr>
        <p:xfrm>
          <a:off x="1342675" y="130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{4FBC6BDD-6164-4E0E-9F67-F4DEA8EF150D}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Problem </a:t>
                      </a:r>
                      <a:endParaRPr sz="1500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Solution</a:t>
                      </a:r>
                      <a:endParaRPr sz="1500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Lack of human empathy</a:t>
                      </a:r>
                      <a:endParaRPr sz="1500"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Include periodic human therapist interactions to guide critical cases.</a:t>
                      </a:r>
                      <a:endParaRPr sz="1500"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Risk of harmful or misleading advice</a:t>
                      </a:r>
                      <a:endParaRPr sz="1500"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Regular expert review of chatbot responses to ensure safety.</a:t>
                      </a:r>
                      <a:endParaRPr sz="1500"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Privacy and data security issues</a:t>
                      </a:r>
                      <a:endParaRPr sz="1500"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Implement strong encryption, anonymization, and ethical data practices.</a:t>
                      </a:r>
                      <a:endParaRPr sz="1500"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Bias in AI responses</a:t>
                      </a:r>
                      <a:endParaRPr sz="1500"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Use diverse datasets and continuously monitor for fairness and accuracy.</a:t>
                      </a:r>
                      <a:endParaRPr sz="1500"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